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9.png"/><Relationship Id="rId4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463040"/>
            <a:ext cx="10607040" cy="3566160"/>
          </a:xfrm>
          <a:prstGeom prst="round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965960"/>
            <a:ext cx="987552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200" b="1">
                <a:solidFill>
                  <a:srgbClr val="1D1816"/>
                </a:solidFill>
                <a:latin typeface="Segoe UI"/>
              </a:rPr>
              <a:t>Periodix</a:t>
            </a:r>
          </a:p>
          <a:p>
            <a:r>
              <a:rPr sz="2400">
                <a:solidFill>
                  <a:srgbClr val="756F6B"/>
                </a:solidFill>
                <a:latin typeface="Segoe UI"/>
              </a:rPr>
              <a:t>Smart Timetable Generation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77639" y="5230368"/>
            <a:ext cx="4206240" cy="56692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AEB"/>
                </a:solidFill>
                <a:latin typeface="Segoe UI"/>
              </a:rPr>
              <a:t>Generate Once. Get It Right.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829800" y="256032"/>
            <a:ext cx="1874519" cy="457200"/>
          </a:xfrm>
          <a:prstGeom prst="roundRect">
            <a:avLst/>
          </a:prstGeom>
          <a:solidFill>
            <a:srgbClr val="FFF9E6"/>
          </a:solidFill>
          <a:ln>
            <a:solidFill>
              <a:srgbClr val="DB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9E0B"/>
                </a:solidFill>
                <a:latin typeface="Segoe UI"/>
              </a:rPr>
              <a:t>Periodix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336792"/>
            <a:ext cx="10835640" cy="16459"/>
          </a:xfrm>
          <a:prstGeom prst="rect">
            <a:avLst/>
          </a:prstGeom>
          <a:solidFill>
            <a:srgbClr val="DBD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6373368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F4844"/>
                </a:solidFill>
                <a:latin typeface="Segoe UI"/>
              </a:rPr>
              <a:t>Generate Once. Get It Right.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11480"/>
            <a:ext cx="9601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D1816"/>
                </a:solidFill>
                <a:latin typeface="Segoe UI"/>
              </a:rPr>
              <a:t>Abstract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024128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756F6B"/>
                </a:solidFill>
                <a:latin typeface="Segoe UI"/>
              </a:rPr>
              <a:t>Project overview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27632"/>
            <a:ext cx="10835640" cy="4526280"/>
          </a:xfrm>
          <a:prstGeom prst="roundRect">
            <a:avLst/>
          </a:prstGeom>
          <a:solidFill>
            <a:srgbClr val="F8F8F5"/>
          </a:solidFill>
          <a:ln>
            <a:solidFill>
              <a:srgbClr val="DB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20240"/>
            <a:ext cx="1024128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2100">
                <a:solidFill>
                  <a:srgbClr val="1D1816"/>
                </a:solidFill>
                <a:latin typeface="Segoe UI"/>
              </a:rPr>
              <a:t>Periodix automates timetable planning across departments, batches, sections, and semesters.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1D1816"/>
                </a:solidFill>
                <a:latin typeface="Segoe UI"/>
              </a:rPr>
              <a:t>It removes manual conflicts using faculty load, slot, and subject-type constraints.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1D1816"/>
                </a:solidFill>
                <a:latin typeface="Segoe UI"/>
              </a:rPr>
              <a:t>A rule-based engine generates versioned timetables with warning transparency.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1D1816"/>
                </a:solidFill>
                <a:latin typeface="Segoe UI"/>
              </a:rPr>
              <a:t>Outputs are instantly viewable and exportable as institutional PDF documents.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829800" y="256032"/>
            <a:ext cx="1874519" cy="457200"/>
          </a:xfrm>
          <a:prstGeom prst="roundRect">
            <a:avLst/>
          </a:prstGeom>
          <a:solidFill>
            <a:srgbClr val="FFF9E6"/>
          </a:solidFill>
          <a:ln>
            <a:solidFill>
              <a:srgbClr val="DB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9E0B"/>
                </a:solidFill>
                <a:latin typeface="Segoe UI"/>
              </a:rPr>
              <a:t>Periodix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336792"/>
            <a:ext cx="10835640" cy="16459"/>
          </a:xfrm>
          <a:prstGeom prst="rect">
            <a:avLst/>
          </a:prstGeom>
          <a:solidFill>
            <a:srgbClr val="DBD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6373368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F4844"/>
                </a:solidFill>
                <a:latin typeface="Segoe UI"/>
              </a:rPr>
              <a:t>Generate Once. Get It Right.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11480"/>
            <a:ext cx="9601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D1816"/>
                </a:solidFill>
                <a:latin typeface="Segoe UI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024128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756F6B"/>
                </a:solidFill>
                <a:latin typeface="Segoe UI"/>
              </a:rPr>
              <a:t>Problem context and objective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27632"/>
            <a:ext cx="10835640" cy="4526280"/>
          </a:xfrm>
          <a:prstGeom prst="roundRect">
            <a:avLst/>
          </a:prstGeom>
          <a:solidFill>
            <a:srgbClr val="F8F8F5"/>
          </a:solidFill>
          <a:ln>
            <a:solidFill>
              <a:srgbClr val="DB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20240"/>
            <a:ext cx="1024128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2100">
                <a:solidFill>
                  <a:srgbClr val="1D1816"/>
                </a:solidFill>
                <a:latin typeface="Segoe UI"/>
              </a:rPr>
              <a:t>Academic timetable planning is a repetitive and error-prone operational process.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1D1816"/>
                </a:solidFill>
                <a:latin typeface="Segoe UI"/>
              </a:rPr>
              <a:t>Spreadsheet-based workflows struggle with conflict resolution and consistency.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1D1816"/>
                </a:solidFill>
                <a:latin typeface="Segoe UI"/>
              </a:rPr>
              <a:t>Periodix provides a centralized, secure, and role-driven scheduling platform.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1D1816"/>
                </a:solidFill>
                <a:latin typeface="Segoe UI"/>
              </a:rPr>
              <a:t>The goal is faster planning with fewer clashes and better academic coordination.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829800" y="256032"/>
            <a:ext cx="1874519" cy="457200"/>
          </a:xfrm>
          <a:prstGeom prst="roundRect">
            <a:avLst/>
          </a:prstGeom>
          <a:solidFill>
            <a:srgbClr val="FFF9E6"/>
          </a:solidFill>
          <a:ln>
            <a:solidFill>
              <a:srgbClr val="DB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9E0B"/>
                </a:solidFill>
                <a:latin typeface="Segoe UI"/>
              </a:rPr>
              <a:t>Periodix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336792"/>
            <a:ext cx="10835640" cy="16459"/>
          </a:xfrm>
          <a:prstGeom prst="rect">
            <a:avLst/>
          </a:prstGeom>
          <a:solidFill>
            <a:srgbClr val="DBD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6373368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F4844"/>
                </a:solidFill>
                <a:latin typeface="Segoe UI"/>
              </a:rPr>
              <a:t>Generate Once. Get It Right.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11480"/>
            <a:ext cx="9601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D1816"/>
                </a:solidFill>
                <a:latin typeface="Segoe UI"/>
              </a:rPr>
              <a:t>Existing System vs Proposed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024128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756F6B"/>
                </a:solidFill>
                <a:latin typeface="Segoe UI"/>
              </a:rPr>
              <a:t>Direct comparison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91640"/>
            <a:ext cx="5257800" cy="4434840"/>
          </a:xfrm>
          <a:prstGeom prst="roundRect">
            <a:avLst/>
          </a:prstGeom>
          <a:solidFill>
            <a:srgbClr val="F8F8F5"/>
          </a:solidFill>
          <a:ln>
            <a:solidFill>
              <a:srgbClr val="DB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63640" y="1691640"/>
            <a:ext cx="5257800" cy="4434840"/>
          </a:xfrm>
          <a:prstGeom prst="roundRect">
            <a:avLst/>
          </a:prstGeom>
          <a:solidFill>
            <a:srgbClr val="F8F8F5"/>
          </a:solidFill>
          <a:ln>
            <a:solidFill>
              <a:srgbClr val="DB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" y="1874519"/>
            <a:ext cx="2194560" cy="384048"/>
          </a:xfrm>
          <a:prstGeom prst="roundRect">
            <a:avLst/>
          </a:prstGeom>
          <a:solidFill>
            <a:srgbClr val="FFF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F59E0B"/>
                </a:solidFill>
                <a:latin typeface="Segoe UI"/>
              </a:rPr>
              <a:t>Existing System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7960" y="1874519"/>
            <a:ext cx="2331720" cy="384048"/>
          </a:xfrm>
          <a:prstGeom prst="roundRect">
            <a:avLst/>
          </a:prstGeom>
          <a:solidFill>
            <a:srgbClr val="FFF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F59E0B"/>
                </a:solidFill>
                <a:latin typeface="Segoe UI"/>
              </a:rPr>
              <a:t>Proposed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331720"/>
            <a:ext cx="4754880" cy="3611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1D1816"/>
                </a:solidFill>
                <a:latin typeface="Segoe UI"/>
              </a:rPr>
              <a:t>Manual spreadsheet planning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D1816"/>
                </a:solidFill>
                <a:latin typeface="Segoe UI"/>
              </a:rPr>
              <a:t>Late clash detection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D1816"/>
                </a:solidFill>
                <a:latin typeface="Segoe UI"/>
              </a:rPr>
              <a:t>No robust version history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D1816"/>
                </a:solidFill>
                <a:latin typeface="Segoe UI"/>
              </a:rPr>
              <a:t>Coordination overhead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2331720"/>
            <a:ext cx="4754880" cy="3611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1D1816"/>
                </a:solidFill>
                <a:latin typeface="Segoe UI"/>
              </a:rPr>
              <a:t>Centralized web workflow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D1816"/>
                </a:solidFill>
                <a:latin typeface="Segoe UI"/>
              </a:rPr>
              <a:t>Constraint-aware generation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D1816"/>
                </a:solidFill>
                <a:latin typeface="Segoe UI"/>
              </a:rPr>
              <a:t>Versioned active timetables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D1816"/>
                </a:solidFill>
                <a:latin typeface="Segoe UI"/>
              </a:rPr>
              <a:t>Instant view + PDF export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463040"/>
            <a:ext cx="996696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DB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0" y="1737360"/>
            <a:ext cx="3017520" cy="502920"/>
          </a:xfrm>
          <a:prstGeom prst="roundRect">
            <a:avLst/>
          </a:prstGeom>
          <a:solidFill>
            <a:srgbClr val="FFF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59E0B"/>
                </a:solidFill>
                <a:latin typeface="Segoe UI"/>
              </a:rPr>
              <a:t>Periodix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2331720"/>
            <a:ext cx="89611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1D1816"/>
                </a:solidFill>
                <a:latin typeface="Segoe UI"/>
              </a:rPr>
              <a:t>System Architecture &amp; UML</a:t>
            </a:r>
          </a:p>
          <a:p>
            <a:r>
              <a:rPr sz="2000">
                <a:solidFill>
                  <a:srgbClr val="756F6B"/>
                </a:solidFill>
                <a:latin typeface="Segoe UI"/>
              </a:rPr>
              <a:t>Design structure and behavioral flow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829800" y="256032"/>
            <a:ext cx="1874519" cy="457200"/>
          </a:xfrm>
          <a:prstGeom prst="roundRect">
            <a:avLst/>
          </a:prstGeom>
          <a:solidFill>
            <a:srgbClr val="FFF9E6"/>
          </a:solidFill>
          <a:ln>
            <a:solidFill>
              <a:srgbClr val="DB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9E0B"/>
                </a:solidFill>
                <a:latin typeface="Segoe UI"/>
              </a:rPr>
              <a:t>Periodix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336792"/>
            <a:ext cx="10835640" cy="16459"/>
          </a:xfrm>
          <a:prstGeom prst="rect">
            <a:avLst/>
          </a:prstGeom>
          <a:solidFill>
            <a:srgbClr val="DBD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6373368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F4844"/>
                </a:solidFill>
                <a:latin typeface="Segoe UI"/>
              </a:rPr>
              <a:t>Generate Once. Get It Right.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11480"/>
            <a:ext cx="9601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D1816"/>
                </a:solidFill>
                <a:latin typeface="Segoe UI"/>
              </a:rPr>
              <a:t>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024128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756F6B"/>
                </a:solidFill>
                <a:latin typeface="Segoe UI"/>
              </a:rPr>
              <a:t>Application-layer overview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27632"/>
            <a:ext cx="10835640" cy="4526280"/>
          </a:xfrm>
          <a:prstGeom prst="roundRect">
            <a:avLst/>
          </a:prstGeom>
          <a:solidFill>
            <a:srgbClr val="F8F8F5"/>
          </a:solidFill>
          <a:ln>
            <a:solidFill>
              <a:srgbClr val="DB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eriodix System 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8329" y="1856231"/>
            <a:ext cx="6910581" cy="39502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829800" y="256032"/>
            <a:ext cx="1874519" cy="457200"/>
          </a:xfrm>
          <a:prstGeom prst="roundRect">
            <a:avLst/>
          </a:prstGeom>
          <a:solidFill>
            <a:srgbClr val="FFF9E6"/>
          </a:solidFill>
          <a:ln>
            <a:solidFill>
              <a:srgbClr val="DB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9E0B"/>
                </a:solidFill>
                <a:latin typeface="Segoe UI"/>
              </a:rPr>
              <a:t>Periodix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336792"/>
            <a:ext cx="10835640" cy="16459"/>
          </a:xfrm>
          <a:prstGeom prst="rect">
            <a:avLst/>
          </a:prstGeom>
          <a:solidFill>
            <a:srgbClr val="DBD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6373368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F4844"/>
                </a:solidFill>
                <a:latin typeface="Segoe UI"/>
              </a:rPr>
              <a:t>Generate Once. Get It Right.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11480"/>
            <a:ext cx="9601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D1816"/>
                </a:solidFill>
                <a:latin typeface="Segoe UI"/>
              </a:rPr>
              <a:t>UML: Use Case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024128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756F6B"/>
                </a:solidFill>
                <a:latin typeface="Segoe UI"/>
              </a:rPr>
              <a:t>Actors and responsibilities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27632"/>
            <a:ext cx="10835640" cy="4526280"/>
          </a:xfrm>
          <a:prstGeom prst="roundRect">
            <a:avLst/>
          </a:prstGeom>
          <a:solidFill>
            <a:srgbClr val="F8F8F5"/>
          </a:solidFill>
          <a:ln>
            <a:solidFill>
              <a:srgbClr val="DB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eriodix UML Use C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6268" y="1856231"/>
            <a:ext cx="2134703" cy="395020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829800" y="256032"/>
            <a:ext cx="1874519" cy="457200"/>
          </a:xfrm>
          <a:prstGeom prst="roundRect">
            <a:avLst/>
          </a:prstGeom>
          <a:solidFill>
            <a:srgbClr val="FFF9E6"/>
          </a:solidFill>
          <a:ln>
            <a:solidFill>
              <a:srgbClr val="DB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9E0B"/>
                </a:solidFill>
                <a:latin typeface="Segoe UI"/>
              </a:rPr>
              <a:t>Periodix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336792"/>
            <a:ext cx="10835640" cy="16459"/>
          </a:xfrm>
          <a:prstGeom prst="rect">
            <a:avLst/>
          </a:prstGeom>
          <a:solidFill>
            <a:srgbClr val="DBD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6373368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F4844"/>
                </a:solidFill>
                <a:latin typeface="Segoe UI"/>
              </a:rPr>
              <a:t>Generate Once. Get It Right.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11480"/>
            <a:ext cx="9601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D1816"/>
                </a:solidFill>
                <a:latin typeface="Segoe UI"/>
              </a:rPr>
              <a:t>UML: Class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024128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756F6B"/>
                </a:solidFill>
                <a:latin typeface="Segoe UI"/>
              </a:rPr>
              <a:t>Core domain 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27632"/>
            <a:ext cx="10835640" cy="4526280"/>
          </a:xfrm>
          <a:prstGeom prst="roundRect">
            <a:avLst/>
          </a:prstGeom>
          <a:solidFill>
            <a:srgbClr val="F8F8F5"/>
          </a:solidFill>
          <a:ln>
            <a:solidFill>
              <a:srgbClr val="DB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eriodix UML Class Stru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1345" y="1856231"/>
            <a:ext cx="3164549" cy="395020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829800" y="256032"/>
            <a:ext cx="1874519" cy="457200"/>
          </a:xfrm>
          <a:prstGeom prst="roundRect">
            <a:avLst/>
          </a:prstGeom>
          <a:solidFill>
            <a:srgbClr val="FFF9E6"/>
          </a:solidFill>
          <a:ln>
            <a:solidFill>
              <a:srgbClr val="DB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9E0B"/>
                </a:solidFill>
                <a:latin typeface="Segoe UI"/>
              </a:rPr>
              <a:t>Periodix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336792"/>
            <a:ext cx="10835640" cy="16459"/>
          </a:xfrm>
          <a:prstGeom prst="rect">
            <a:avLst/>
          </a:prstGeom>
          <a:solidFill>
            <a:srgbClr val="DBD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6373368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F4844"/>
                </a:solidFill>
                <a:latin typeface="Segoe UI"/>
              </a:rPr>
              <a:t>Generate Once. Get It Right.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11480"/>
            <a:ext cx="9601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D1816"/>
                </a:solidFill>
                <a:latin typeface="Segoe UI"/>
              </a:rPr>
              <a:t>UML: Sequence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024128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756F6B"/>
                </a:solidFill>
                <a:latin typeface="Segoe UI"/>
              </a:rPr>
              <a:t>Generation request 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27632"/>
            <a:ext cx="10835640" cy="4526280"/>
          </a:xfrm>
          <a:prstGeom prst="roundRect">
            <a:avLst/>
          </a:prstGeom>
          <a:solidFill>
            <a:srgbClr val="F8F8F5"/>
          </a:solidFill>
          <a:ln>
            <a:solidFill>
              <a:srgbClr val="DB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eriodix UML Seque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8516" y="1856231"/>
            <a:ext cx="3950208" cy="395020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829800" y="256032"/>
            <a:ext cx="1874519" cy="457200"/>
          </a:xfrm>
          <a:prstGeom prst="roundRect">
            <a:avLst/>
          </a:prstGeom>
          <a:solidFill>
            <a:srgbClr val="FFF9E6"/>
          </a:solidFill>
          <a:ln>
            <a:solidFill>
              <a:srgbClr val="DB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9E0B"/>
                </a:solidFill>
                <a:latin typeface="Segoe UI"/>
              </a:rPr>
              <a:t>Periodix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336792"/>
            <a:ext cx="10835640" cy="16459"/>
          </a:xfrm>
          <a:prstGeom prst="rect">
            <a:avLst/>
          </a:prstGeom>
          <a:solidFill>
            <a:srgbClr val="DBD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6373368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F4844"/>
                </a:solidFill>
                <a:latin typeface="Segoe UI"/>
              </a:rPr>
              <a:t>Generate Once. Get It Right.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11480"/>
            <a:ext cx="9601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D1816"/>
                </a:solidFill>
                <a:latin typeface="Segoe UI"/>
              </a:rPr>
              <a:t>UML: Activity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024128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756F6B"/>
                </a:solidFill>
                <a:latin typeface="Segoe UI"/>
              </a:rPr>
              <a:t>Scheduling workflow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27632"/>
            <a:ext cx="10835640" cy="4526280"/>
          </a:xfrm>
          <a:prstGeom prst="roundRect">
            <a:avLst/>
          </a:prstGeom>
          <a:solidFill>
            <a:srgbClr val="F8F8F5"/>
          </a:solidFill>
          <a:ln>
            <a:solidFill>
              <a:srgbClr val="DB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eriodix UML Activ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44" y="1856231"/>
            <a:ext cx="960150" cy="395020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463040"/>
            <a:ext cx="996696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DB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0" y="1737360"/>
            <a:ext cx="3017520" cy="502920"/>
          </a:xfrm>
          <a:prstGeom prst="roundRect">
            <a:avLst/>
          </a:prstGeom>
          <a:solidFill>
            <a:srgbClr val="FFF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59E0B"/>
                </a:solidFill>
                <a:latin typeface="Segoe UI"/>
              </a:rPr>
              <a:t>Periodix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2331720"/>
            <a:ext cx="89611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1D1816"/>
                </a:solidFill>
                <a:latin typeface="Segoe UI"/>
              </a:rPr>
              <a:t>System Specifications</a:t>
            </a:r>
          </a:p>
          <a:p>
            <a:r>
              <a:rPr sz="2000">
                <a:solidFill>
                  <a:srgbClr val="756F6B"/>
                </a:solidFill>
                <a:latin typeface="Segoe UI"/>
              </a:rPr>
              <a:t>Requirements, technologies, and module map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829800" y="256032"/>
            <a:ext cx="1874519" cy="457200"/>
          </a:xfrm>
          <a:prstGeom prst="roundRect">
            <a:avLst/>
          </a:prstGeom>
          <a:solidFill>
            <a:srgbClr val="FFF9E6"/>
          </a:solidFill>
          <a:ln>
            <a:solidFill>
              <a:srgbClr val="DB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9E0B"/>
                </a:solidFill>
                <a:latin typeface="Segoe UI"/>
              </a:rPr>
              <a:t>Periodix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336792"/>
            <a:ext cx="10835640" cy="16459"/>
          </a:xfrm>
          <a:prstGeom prst="rect">
            <a:avLst/>
          </a:prstGeom>
          <a:solidFill>
            <a:srgbClr val="DBD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6373368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F4844"/>
                </a:solidFill>
                <a:latin typeface="Segoe UI"/>
              </a:rPr>
              <a:t>Generate Once. Get It Right.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11480"/>
            <a:ext cx="9601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D1816"/>
                </a:solidFill>
                <a:latin typeface="Segoe UI"/>
              </a:rPr>
              <a:t>System Specifications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024128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756F6B"/>
                </a:solidFill>
                <a:latin typeface="Segoe UI"/>
              </a:rPr>
              <a:t>Hardware and software requirements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91640"/>
            <a:ext cx="5257800" cy="4434840"/>
          </a:xfrm>
          <a:prstGeom prst="roundRect">
            <a:avLst/>
          </a:prstGeom>
          <a:solidFill>
            <a:srgbClr val="F8F8F5"/>
          </a:solidFill>
          <a:ln>
            <a:solidFill>
              <a:srgbClr val="DB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63640" y="1691640"/>
            <a:ext cx="5257800" cy="4434840"/>
          </a:xfrm>
          <a:prstGeom prst="roundRect">
            <a:avLst/>
          </a:prstGeom>
          <a:solidFill>
            <a:srgbClr val="F8F8F5"/>
          </a:solidFill>
          <a:ln>
            <a:solidFill>
              <a:srgbClr val="DB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" y="1874519"/>
            <a:ext cx="2194560" cy="384048"/>
          </a:xfrm>
          <a:prstGeom prst="roundRect">
            <a:avLst/>
          </a:prstGeom>
          <a:solidFill>
            <a:srgbClr val="FFF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F59E0B"/>
                </a:solidFill>
                <a:latin typeface="Segoe UI"/>
              </a:rPr>
              <a:t>Hardware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7960" y="1874519"/>
            <a:ext cx="2331720" cy="384048"/>
          </a:xfrm>
          <a:prstGeom prst="roundRect">
            <a:avLst/>
          </a:prstGeom>
          <a:solidFill>
            <a:srgbClr val="FFF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F59E0B"/>
                </a:solidFill>
                <a:latin typeface="Segoe UI"/>
              </a:rPr>
              <a:t>Software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331720"/>
            <a:ext cx="4754880" cy="3611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1D1816"/>
                </a:solidFill>
                <a:latin typeface="Segoe UI"/>
              </a:rPr>
              <a:t>CPU: Intel i3 / Ryzen 3 or higher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D1816"/>
                </a:solidFill>
                <a:latin typeface="Segoe UI"/>
              </a:rPr>
              <a:t>RAM: 8 GB minimum (16 GB recommended)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D1816"/>
                </a:solidFill>
                <a:latin typeface="Segoe UI"/>
              </a:rPr>
              <a:t>Storage: 5 GB free disk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D1816"/>
                </a:solidFill>
                <a:latin typeface="Segoe UI"/>
              </a:rPr>
              <a:t>Display: 1366 x 768 minimum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2331720"/>
            <a:ext cx="4754880" cy="3611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1D1816"/>
                </a:solidFill>
                <a:latin typeface="Segoe UI"/>
              </a:rPr>
              <a:t>OS: Windows 10/11, Linux, macOS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D1816"/>
                </a:solidFill>
                <a:latin typeface="Segoe UI"/>
              </a:rPr>
              <a:t>Runtime: Node.js 18+ and npm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D1816"/>
                </a:solidFill>
                <a:latin typeface="Segoe UI"/>
              </a:rPr>
              <a:t>DB Layer: Prisma + SQLite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D1816"/>
                </a:solidFill>
                <a:latin typeface="Segoe UI"/>
              </a:rPr>
              <a:t>Browser: Chrome/Edge/Firefox latest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829800" y="256032"/>
            <a:ext cx="1874519" cy="457200"/>
          </a:xfrm>
          <a:prstGeom prst="roundRect">
            <a:avLst/>
          </a:prstGeom>
          <a:solidFill>
            <a:srgbClr val="FFF9E6"/>
          </a:solidFill>
          <a:ln>
            <a:solidFill>
              <a:srgbClr val="DB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9E0B"/>
                </a:solidFill>
                <a:latin typeface="Segoe UI"/>
              </a:rPr>
              <a:t>Periodix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336792"/>
            <a:ext cx="10835640" cy="16459"/>
          </a:xfrm>
          <a:prstGeom prst="rect">
            <a:avLst/>
          </a:prstGeom>
          <a:solidFill>
            <a:srgbClr val="DBD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6373368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F4844"/>
                </a:solidFill>
                <a:latin typeface="Segoe UI"/>
              </a:rPr>
              <a:t>Generate Once. Get It Right.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11480"/>
            <a:ext cx="9601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D1816"/>
                </a:solidFill>
                <a:latin typeface="Segoe UI"/>
              </a:rPr>
              <a:t>Technologies Used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024128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756F6B"/>
                </a:solidFill>
                <a:latin typeface="Segoe UI"/>
              </a:rPr>
              <a:t>Development stack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27632"/>
            <a:ext cx="10835640" cy="4526280"/>
          </a:xfrm>
          <a:prstGeom prst="roundRect">
            <a:avLst/>
          </a:prstGeom>
          <a:solidFill>
            <a:srgbClr val="F8F8F5"/>
          </a:solidFill>
          <a:ln>
            <a:solidFill>
              <a:srgbClr val="DB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20240"/>
            <a:ext cx="1024128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D1816"/>
                </a:solidFill>
                <a:latin typeface="Segoe UI"/>
              </a:rPr>
              <a:t>Frontend: TypeScript, React, Vite, Tailwind CSS, Zustand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D1816"/>
                </a:solidFill>
                <a:latin typeface="Segoe UI"/>
              </a:rPr>
              <a:t>Backend: JavaScript (Node.js), Express.js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D1816"/>
                </a:solidFill>
                <a:latin typeface="Segoe UI"/>
              </a:rPr>
              <a:t>Database: SQLite with Prisma ORM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D1816"/>
                </a:solidFill>
                <a:latin typeface="Segoe UI"/>
              </a:rPr>
              <a:t>Security: JWT authentication and bcrypt hashing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D1816"/>
                </a:solidFill>
                <a:latin typeface="Segoe UI"/>
              </a:rPr>
              <a:t>Reporting: Puppeteer-based PDF export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D1816"/>
                </a:solidFill>
                <a:latin typeface="Segoe UI"/>
              </a:rPr>
              <a:t>Tooling: ESLint, Vitest, npm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829800" y="256032"/>
            <a:ext cx="1874519" cy="457200"/>
          </a:xfrm>
          <a:prstGeom prst="roundRect">
            <a:avLst/>
          </a:prstGeom>
          <a:solidFill>
            <a:srgbClr val="FFF9E6"/>
          </a:solidFill>
          <a:ln>
            <a:solidFill>
              <a:srgbClr val="DB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9E0B"/>
                </a:solidFill>
                <a:latin typeface="Segoe UI"/>
              </a:rPr>
              <a:t>Periodix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336792"/>
            <a:ext cx="10835640" cy="16459"/>
          </a:xfrm>
          <a:prstGeom prst="rect">
            <a:avLst/>
          </a:prstGeom>
          <a:solidFill>
            <a:srgbClr val="DBD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6373368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F4844"/>
                </a:solidFill>
                <a:latin typeface="Segoe UI"/>
              </a:rPr>
              <a:t>Generate Once. Get It Right.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11480"/>
            <a:ext cx="9601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D1816"/>
                </a:solidFill>
                <a:latin typeface="Segoe UI"/>
              </a:rPr>
              <a:t>Modules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024128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756F6B"/>
                </a:solidFill>
                <a:latin typeface="Segoe UI"/>
              </a:rPr>
              <a:t>Core components and responsibilities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27632"/>
            <a:ext cx="10835640" cy="4709160"/>
          </a:xfrm>
          <a:prstGeom prst="roundRect">
            <a:avLst/>
          </a:prstGeom>
          <a:solidFill>
            <a:srgbClr val="F8F8F5"/>
          </a:solidFill>
          <a:ln>
            <a:solidFill>
              <a:srgbClr val="DB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47088"/>
            <a:ext cx="102412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D1816"/>
                </a:solidFill>
                <a:latin typeface="Segoe UI"/>
              </a:rPr>
              <a:t>Authentication Module - Handles secure login, token validation, and role authorization.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D1816"/>
                </a:solidFill>
                <a:latin typeface="Segoe UI"/>
              </a:rPr>
              <a:t>Department &amp; Batch Module - Manages departments, batches, sections, and semesters.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D1816"/>
                </a:solidFill>
                <a:latin typeface="Segoe UI"/>
              </a:rPr>
              <a:t>Faculty Module - Maintains faculty profiles, department mapping, and weekly load caps.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D1816"/>
                </a:solidFill>
                <a:latin typeface="Segoe UI"/>
              </a:rPr>
              <a:t>Subject Module - Configures semester-wise subject metadata and lab duration.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D1816"/>
                </a:solidFill>
                <a:latin typeface="Segoe UI"/>
              </a:rPr>
              <a:t>Assignment Module - Maps subjects and sections to one or more faculty members.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D1816"/>
                </a:solidFill>
                <a:latin typeface="Segoe UI"/>
              </a:rPr>
              <a:t>Timetable Engine Module - Generates conflict-aware, versioned timetable outputs.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D1816"/>
                </a:solidFill>
                <a:latin typeface="Segoe UI"/>
              </a:rPr>
              <a:t>Viewer &amp; Export Module - Presents section/faculty views and exports official PDF.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10332720" cy="2926080"/>
          </a:xfrm>
          <a:prstGeom prst="round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377440"/>
            <a:ext cx="91440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200" b="1">
                <a:solidFill>
                  <a:srgbClr val="1D1816"/>
                </a:solidFill>
                <a:latin typeface="Segoe UI"/>
              </a:rPr>
              <a:t>Thank You</a:t>
            </a:r>
          </a:p>
          <a:p>
            <a:r>
              <a:rPr sz="2200">
                <a:solidFill>
                  <a:srgbClr val="756F6B"/>
                </a:solidFill>
                <a:latin typeface="Segoe UI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